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71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Alofi" userId="0d1d9b74fde509a8" providerId="LiveId" clId="{83BADF90-7E74-482C-B20F-9F5E34BEFCD5}"/>
    <pc:docChg chg="modSld">
      <pc:chgData name="Ahmad Alofi" userId="0d1d9b74fde509a8" providerId="LiveId" clId="{83BADF90-7E74-482C-B20F-9F5E34BEFCD5}" dt="2026-05-20T14:33:04.186" v="17" actId="14100"/>
      <pc:docMkLst>
        <pc:docMk/>
      </pc:docMkLst>
      <pc:sldChg chg="modSp mod">
        <pc:chgData name="Ahmad Alofi" userId="0d1d9b74fde509a8" providerId="LiveId" clId="{83BADF90-7E74-482C-B20F-9F5E34BEFCD5}" dt="2026-05-20T14:31:59.444" v="14" actId="1076"/>
        <pc:sldMkLst>
          <pc:docMk/>
          <pc:sldMk cId="2838639951" sldId="256"/>
        </pc:sldMkLst>
        <pc:spChg chg="mod">
          <ac:chgData name="Ahmad Alofi" userId="0d1d9b74fde509a8" providerId="LiveId" clId="{83BADF90-7E74-482C-B20F-9F5E34BEFCD5}" dt="2026-05-20T14:31:54.503" v="13" actId="255"/>
          <ac:spMkLst>
            <pc:docMk/>
            <pc:sldMk cId="2838639951" sldId="256"/>
            <ac:spMk id="2" creationId="{009F31A5-7A77-A7BA-A9DB-A09E762ADC5F}"/>
          </ac:spMkLst>
        </pc:spChg>
        <pc:spChg chg="mod">
          <ac:chgData name="Ahmad Alofi" userId="0d1d9b74fde509a8" providerId="LiveId" clId="{83BADF90-7E74-482C-B20F-9F5E34BEFCD5}" dt="2026-05-20T14:31:59.444" v="14" actId="1076"/>
          <ac:spMkLst>
            <pc:docMk/>
            <pc:sldMk cId="2838639951" sldId="256"/>
            <ac:spMk id="3" creationId="{97EDF054-B0D1-6D69-4D8F-6920507A9F49}"/>
          </ac:spMkLst>
        </pc:spChg>
      </pc:sldChg>
      <pc:sldChg chg="modSp mod">
        <pc:chgData name="Ahmad Alofi" userId="0d1d9b74fde509a8" providerId="LiveId" clId="{83BADF90-7E74-482C-B20F-9F5E34BEFCD5}" dt="2026-05-20T14:33:04.186" v="17" actId="14100"/>
        <pc:sldMkLst>
          <pc:docMk/>
          <pc:sldMk cId="3187114916" sldId="271"/>
        </pc:sldMkLst>
        <pc:graphicFrameChg chg="mod modGraphic">
          <ac:chgData name="Ahmad Alofi" userId="0d1d9b74fde509a8" providerId="LiveId" clId="{83BADF90-7E74-482C-B20F-9F5E34BEFCD5}" dt="2026-05-20T14:33:04.186" v="17" actId="14100"/>
          <ac:graphicFrameMkLst>
            <pc:docMk/>
            <pc:sldMk cId="3187114916" sldId="271"/>
            <ac:graphicFrameMk id="5" creationId="{65A5C71A-5A65-0A47-960C-FAD8BFD736C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DA54-D677-14B8-E616-149E16489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AFD806-40CE-84B9-0AC4-9D96C8AC7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F58FE-BBDE-501E-7CBC-A59BCFB5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C747-A375-422B-86D3-1770291FDB3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4FAA6-86B2-32FB-5E05-4946D1903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840E7-370F-D668-4F77-F1C474A23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D792-C569-4746-AF8D-EE136F1B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00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6B51-367A-6F89-D3EA-49CE3DF90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72330-9A97-7A8E-EAC7-3E83DB38A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AE0D3-A585-7444-74AC-096FFFC7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C747-A375-422B-86D3-1770291FDB3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71360-8CA9-C713-0E49-56AADFD8D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DBBC8-ABBC-6EF3-110F-A100E906D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D792-C569-4746-AF8D-EE136F1B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30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69A0-3A36-6FDB-E6CE-840D2F89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44D60-A1C2-7E0B-EBE2-928539DDB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771B1-50C7-FC32-F5B1-52EA2946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C747-A375-422B-86D3-1770291FDB3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85DF0-D297-8E32-2989-9A639BB4D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9774-5B7C-8C6F-4768-BDD7B5E2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D792-C569-4746-AF8D-EE136F1B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12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6B6C-A61B-2768-BCB1-C33C0DB3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105FF-5C9C-F042-69D8-5DCA0D2EA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ADFD5-AD59-F023-7C7A-F4DF8488B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DB8BF-EE88-6358-84B6-8DA2D3106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C747-A375-422B-86D3-1770291FDB3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3C985-902A-7001-4C55-491D0152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08FD2-1B25-E54C-0E00-1B546C84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D792-C569-4746-AF8D-EE136F1B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14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2DF1-7F59-25F2-E01C-FF0C68F67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60921-E35E-106E-959F-8737A8A90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59D6C-6B4A-DEF3-08D8-7804A1A04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7141D-F5E3-C653-4919-59BCC674D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5D8183-2C24-451F-09DB-40335DFE7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D85B63-6051-3ECB-E37D-0DEBB8A29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C747-A375-422B-86D3-1770291FDB3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8EA7C3-5057-2ED0-04D2-E083B1D6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C4F721-23FF-F463-C840-26CDCC74E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D792-C569-4746-AF8D-EE136F1B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95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3A5B-778E-39BB-3F26-58ED2242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97FD7E-6265-2C89-6B16-41E53AD0F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C747-A375-422B-86D3-1770291FDB3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C70FC-EA0B-FC72-D74A-A7016801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4BC584-9F81-D33A-D5B9-9D729DB7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D792-C569-4746-AF8D-EE136F1B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9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AE72BE-DDEA-B968-EEC6-6E69172D8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C747-A375-422B-86D3-1770291FDB3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3DF008-32B6-60D3-D974-E27B04AAD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7D782-5594-520F-25E8-85134AAC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D792-C569-4746-AF8D-EE136F1B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13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D390-B4ED-DBB7-D0B8-74A972554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41552-C3FE-74CA-C339-EB761081D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E92C2-6703-DE32-AD59-CCC3D6765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992DB-366C-7EF3-20E3-C58A0045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C747-A375-422B-86D3-1770291FDB3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91DA3-1909-8F6A-7B49-13B4C8111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CAB32-8F23-9F53-2D37-7FD009850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D792-C569-4746-AF8D-EE136F1B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097A-B82D-EE14-6EF8-7BD60CD9F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743F5-0DD0-11E1-24B9-49BD48C92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D42EE-97A7-94A8-B7D5-0895FA077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564DE-6760-6E31-9570-3072D5DB5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C747-A375-422B-86D3-1770291FDB3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D885A-6B35-8811-E06D-DC276C09C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CA982-9B6D-1CCD-59EC-A2E71D9A6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D792-C569-4746-AF8D-EE136F1B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05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3052-2200-1CB2-21B4-45E6663D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B5035-E023-F41A-8F32-02B887ED0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F480D-153E-1624-A82C-B69D510A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C747-A375-422B-86D3-1770291FDB3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23AEA-4E1F-CFA8-B54A-08430EEA5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3B459-E65D-0850-11C4-26BA4B4F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D792-C569-4746-AF8D-EE136F1B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44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D6B21E-66A6-6A97-50DA-EAA805E37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330F4-1FE2-CB0D-3B04-6E018A1EB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D2B0C-081B-8043-4A3F-03E0D1698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C747-A375-422B-86D3-1770291FDB3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B259B-1F8C-57C4-BBC4-72A82ABD7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1FEF5-8F7E-E1B0-D105-B3251127F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D792-C569-4746-AF8D-EE136F1B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0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1E548A-8183-3AC3-5BD5-8DFF5F093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D7498-F84F-37A0-69EB-B3E495EB0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B87FD-8DF4-C691-B6F6-8AB6F5693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1C747-A375-422B-86D3-1770291FDB3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0E7D9-D540-BD9F-606A-3B3524EA89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0A2B5-E9C8-5263-339E-7E6501E29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6D792-C569-4746-AF8D-EE136F1B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0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31A5-7A77-A7BA-A9DB-A09E762ADC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Detecting AI-Generated Arabic Abstracts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DF054-B0D1-6D69-4D8F-6920507A9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7756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/>
              <a:t>Ahmed Alofi</a:t>
            </a:r>
          </a:p>
        </p:txBody>
      </p:sp>
    </p:spTree>
    <p:extLst>
      <p:ext uri="{BB962C8B-B14F-4D97-AF65-F5344CB8AC3E}">
        <p14:creationId xmlns:p14="http://schemas.microsoft.com/office/powerpoint/2010/main" val="2838639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4B65E-7A35-614A-2200-8067F08E8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08AD-C8EE-E9D3-921F-10AB1CDF9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Problem:</a:t>
            </a:r>
            <a:r>
              <a:rPr lang="en-US" dirty="0"/>
              <a:t> Rising threat of AI-generated academic content in Arabic</a:t>
            </a:r>
          </a:p>
          <a:p>
            <a:r>
              <a:rPr lang="en-US" b="1" dirty="0"/>
              <a:t>Solution:</a:t>
            </a:r>
            <a:r>
              <a:rPr lang="en-US" dirty="0"/>
              <a:t> Scalable detection pipeline with 95.69% accuracy</a:t>
            </a:r>
          </a:p>
          <a:p>
            <a:r>
              <a:rPr lang="en-US" b="1" dirty="0"/>
              <a:t>Platform:</a:t>
            </a:r>
            <a:r>
              <a:rPr lang="en-US" dirty="0"/>
              <a:t> Apache Spark on CentOS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555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890B5-1738-C1BD-18ED-49E189D0A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15D2B-96B9-3BEC-8DCF-1B224F06B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Project Objectives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BA02AB-54A2-F7C4-E661-D966BDD67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856858"/>
              </p:ext>
            </p:extLst>
          </p:nvPr>
        </p:nvGraphicFramePr>
        <p:xfrm>
          <a:off x="838200" y="1853536"/>
          <a:ext cx="9753600" cy="4533015"/>
        </p:xfrm>
        <a:graphic>
          <a:graphicData uri="http://schemas.openxmlformats.org/drawingml/2006/table">
            <a:tbl>
              <a:tblPr/>
              <a:tblGrid>
                <a:gridCol w="4876800">
                  <a:extLst>
                    <a:ext uri="{9D8B030D-6E8A-4147-A177-3AD203B41FA5}">
                      <a16:colId xmlns:a16="http://schemas.microsoft.com/office/drawing/2014/main" val="4102192301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817092092"/>
                    </a:ext>
                  </a:extLst>
                </a:gridCol>
              </a:tblGrid>
              <a:tr h="56708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US" sz="1800" b="1" dirty="0">
                        <a:effectLst/>
                        <a:latin typeface="quote-cjk-patch"/>
                      </a:endParaRPr>
                    </a:p>
                  </a:txBody>
                  <a:tcPr marL="89513" marR="119351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US" sz="1800" b="0" dirty="0">
                        <a:effectLst/>
                        <a:latin typeface="quote-cjk-patch"/>
                      </a:endParaRPr>
                    </a:p>
                  </a:txBody>
                  <a:tcPr marL="119351" marR="119351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3222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89513" marR="119351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Design distributed pipeline for Arabic text analysis</a:t>
                      </a:r>
                    </a:p>
                  </a:txBody>
                  <a:tcPr marL="119351" marR="89513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473164"/>
                  </a:ext>
                </a:extLst>
              </a:tr>
              <a:tr h="8578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89513" marR="119351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Develop comprehensive Arabic preprocessing functions</a:t>
                      </a:r>
                    </a:p>
                  </a:txBody>
                  <a:tcPr marL="119351" marR="89513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965271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L="89513" marR="119351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Engineer hybrid features (TF-IDF + stylometric)</a:t>
                      </a:r>
                    </a:p>
                  </a:txBody>
                  <a:tcPr marL="119351" marR="89513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457430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89513" marR="119351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0">
                          <a:effectLst/>
                          <a:latin typeface="quote-cjk-patch"/>
                        </a:rPr>
                        <a:t>Train &amp; evaluate 4 classification models</a:t>
                      </a:r>
                    </a:p>
                  </a:txBody>
                  <a:tcPr marL="119351" marR="89513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2098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L="89513" marR="119351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Implement real-time streaming inference</a:t>
                      </a:r>
                    </a:p>
                  </a:txBody>
                  <a:tcPr marL="119351" marR="89513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66317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89513" marR="119351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 dirty="0">
                          <a:effectLst/>
                          <a:latin typeface="quote-cjk-patch"/>
                        </a:rPr>
                        <a:t>Analyze scalability on CentOS infrastructure</a:t>
                      </a:r>
                    </a:p>
                  </a:txBody>
                  <a:tcPr marL="119351" marR="89513" marT="74594" marB="74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05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103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3B9F5-0C8D-BBFA-E49A-E13274BE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19D2D-744D-E278-812B-A662C30C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D7961-4DE6-7DE8-E928-04DDDC25F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b="1" dirty="0"/>
              <a:t>Source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The dataset is KFUPM-JRCAI/</a:t>
            </a:r>
            <a:r>
              <a:rPr lang="en-US" dirty="0" err="1"/>
              <a:t>arabic</a:t>
            </a:r>
            <a:r>
              <a:rPr lang="en-US" dirty="0"/>
              <a:t>-generated-abstracts loaded from Hugging Face.</a:t>
            </a:r>
          </a:p>
          <a:p>
            <a:pPr marL="0" indent="0">
              <a:buNone/>
            </a:pPr>
            <a:r>
              <a:rPr lang="en-US" b="1" dirty="0"/>
              <a:t> Size and Structure</a:t>
            </a:r>
            <a:endParaRPr lang="en-US" dirty="0"/>
          </a:p>
          <a:p>
            <a:r>
              <a:rPr lang="en-US" dirty="0"/>
              <a:t>The raw dataset contains three splits (</a:t>
            </a:r>
            <a:r>
              <a:rPr lang="en-US" dirty="0" err="1"/>
              <a:t>by_polishing</a:t>
            </a:r>
            <a:r>
              <a:rPr lang="en-US" dirty="0"/>
              <a:t>, </a:t>
            </a:r>
            <a:r>
              <a:rPr lang="en-US" dirty="0" err="1"/>
              <a:t>from_title</a:t>
            </a:r>
            <a:r>
              <a:rPr lang="en-US" dirty="0"/>
              <a:t>, </a:t>
            </a:r>
            <a:r>
              <a:rPr lang="en-US" dirty="0" err="1"/>
              <a:t>from_title_and_content</a:t>
            </a:r>
            <a:r>
              <a:rPr lang="en-US" dirty="0"/>
              <a:t>). After flattening into a long format, the unified </a:t>
            </a:r>
            <a:r>
              <a:rPr lang="en-US" dirty="0" err="1"/>
              <a:t>DataFrame</a:t>
            </a:r>
            <a:r>
              <a:rPr lang="en-US" dirty="0"/>
              <a:t> contains </a:t>
            </a:r>
            <a:r>
              <a:rPr lang="en-US" b="1" dirty="0"/>
              <a:t>41,940</a:t>
            </a:r>
            <a:r>
              <a:rPr lang="en-US" dirty="0"/>
              <a:t> rows with four columns: </a:t>
            </a:r>
            <a:r>
              <a:rPr lang="en-US" dirty="0" err="1"/>
              <a:t>abstract_text</a:t>
            </a:r>
            <a:r>
              <a:rPr lang="en-US" dirty="0"/>
              <a:t>, </a:t>
            </a:r>
            <a:r>
              <a:rPr lang="en-US" dirty="0" err="1"/>
              <a:t>source_split</a:t>
            </a:r>
            <a:r>
              <a:rPr lang="en-US" dirty="0"/>
              <a:t>, </a:t>
            </a:r>
            <a:r>
              <a:rPr lang="en-US" dirty="0" err="1"/>
              <a:t>generated_by</a:t>
            </a:r>
            <a:r>
              <a:rPr lang="en-US" dirty="0"/>
              <a:t>, label..</a:t>
            </a:r>
          </a:p>
        </p:txBody>
      </p:sp>
    </p:spTree>
    <p:extLst>
      <p:ext uri="{BB962C8B-B14F-4D97-AF65-F5344CB8AC3E}">
        <p14:creationId xmlns:p14="http://schemas.microsoft.com/office/powerpoint/2010/main" val="2957546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4D22-C852-89AD-AD07-B2F47AF7F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C186-1AAA-2494-0C49-11A1738DE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112C9-5536-329B-855F-72C22EE92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Four-Stage Distributed Processing (Spark UDFs)</a:t>
            </a:r>
          </a:p>
          <a:p>
            <a:pPr marL="514350" indent="-514350" latinLnBrk="1">
              <a:buAutoNum type="arabicPeriod"/>
            </a:pPr>
            <a:r>
              <a:rPr lang="en-US" dirty="0" err="1"/>
              <a:t>remove_diacritics</a:t>
            </a:r>
            <a:endParaRPr lang="en-US" dirty="0"/>
          </a:p>
          <a:p>
            <a:pPr marL="514350" indent="-514350" latinLnBrk="1">
              <a:buAutoNum type="arabicPeriod"/>
            </a:pPr>
            <a:r>
              <a:rPr lang="ar-EG" dirty="0"/>
              <a:t>  </a:t>
            </a:r>
            <a:r>
              <a:rPr lang="en-US" dirty="0" err="1"/>
              <a:t>normalize_arabic</a:t>
            </a:r>
            <a:r>
              <a:rPr lang="en-US" dirty="0"/>
              <a:t>     </a:t>
            </a:r>
            <a:r>
              <a:rPr lang="en-US" i="1" dirty="0"/>
              <a:t># </a:t>
            </a:r>
            <a:r>
              <a:rPr lang="ar-EG" i="1" dirty="0"/>
              <a:t>إ/أ/آ → ا</a:t>
            </a:r>
            <a:endParaRPr lang="ar-EG" dirty="0"/>
          </a:p>
          <a:p>
            <a:pPr marL="0" indent="0" latinLnBrk="1">
              <a:buNone/>
            </a:pPr>
            <a:r>
              <a:rPr lang="en-US" dirty="0"/>
              <a:t>3.   </a:t>
            </a:r>
            <a:r>
              <a:rPr lang="ar-EG" dirty="0"/>
              <a:t> </a:t>
            </a:r>
            <a:r>
              <a:rPr lang="en-US" dirty="0" err="1"/>
              <a:t>remove_stopwords</a:t>
            </a:r>
            <a:r>
              <a:rPr lang="en-US" dirty="0"/>
              <a:t>     </a:t>
            </a:r>
            <a:r>
              <a:rPr lang="en-US" i="1" dirty="0"/>
              <a:t># Filter common words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4. </a:t>
            </a:r>
            <a:r>
              <a:rPr lang="en-US" dirty="0" err="1"/>
              <a:t>stem_arabic</a:t>
            </a:r>
            <a:r>
              <a:rPr lang="en-US" dirty="0"/>
              <a:t>        </a:t>
            </a:r>
            <a:r>
              <a:rPr lang="en-US" i="1" dirty="0"/>
              <a:t># </a:t>
            </a:r>
            <a:r>
              <a:rPr lang="en-US" i="1" dirty="0" err="1"/>
              <a:t>ISRIStemmer</a:t>
            </a:r>
            <a:r>
              <a:rPr lang="en-US" i="1" dirty="0"/>
              <a:t> root extraction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428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74148-F77E-04D7-6C44-5F228FC83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81126-EE1B-CD71-BABA-F9917E31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Engineering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AA821F-E68F-430B-F0B4-267438B2E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289638"/>
              </p:ext>
            </p:extLst>
          </p:nvPr>
        </p:nvGraphicFramePr>
        <p:xfrm>
          <a:off x="1587500" y="2534444"/>
          <a:ext cx="9194799" cy="2209800"/>
        </p:xfrm>
        <a:graphic>
          <a:graphicData uri="http://schemas.openxmlformats.org/drawingml/2006/table">
            <a:tbl>
              <a:tblPr/>
              <a:tblGrid>
                <a:gridCol w="3064933">
                  <a:extLst>
                    <a:ext uri="{9D8B030D-6E8A-4147-A177-3AD203B41FA5}">
                      <a16:colId xmlns:a16="http://schemas.microsoft.com/office/drawing/2014/main" val="398715256"/>
                    </a:ext>
                  </a:extLst>
                </a:gridCol>
                <a:gridCol w="3064933">
                  <a:extLst>
                    <a:ext uri="{9D8B030D-6E8A-4147-A177-3AD203B41FA5}">
                      <a16:colId xmlns:a16="http://schemas.microsoft.com/office/drawing/2014/main" val="4183055938"/>
                    </a:ext>
                  </a:extLst>
                </a:gridCol>
                <a:gridCol w="3064933">
                  <a:extLst>
                    <a:ext uri="{9D8B030D-6E8A-4147-A177-3AD203B41FA5}">
                      <a16:colId xmlns:a16="http://schemas.microsoft.com/office/drawing/2014/main" val="941497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Feature Type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Specifics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Dimensionality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898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TF-IDF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 err="1">
                          <a:effectLst/>
                          <a:latin typeface="quote-cjk-patch"/>
                        </a:rPr>
                        <a:t>HashingTF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(10K features) + IDF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10,000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313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F1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Total character count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370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F24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Unique punctuation ratio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121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Total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VectorAssembler output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10,002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055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046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1D1C8-1D55-5E06-8589-62F7BC3FB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A5D5-74B9-58D5-EB14-2593C0352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33637-08B6-B41C-4C6F-4AD2744C0D0E}"/>
              </a:ext>
            </a:extLst>
          </p:cNvPr>
          <p:cNvSpPr txBox="1"/>
          <p:nvPr/>
        </p:nvSpPr>
        <p:spPr>
          <a:xfrm>
            <a:off x="838200" y="1690688"/>
            <a:ext cx="7543800" cy="1095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Type-Token Ratio (TTR) - Lexical Diversity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BCFD14-1376-80AC-2AE8-BAE7716F6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044" y="2785860"/>
            <a:ext cx="6917055" cy="34285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029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014EA-C713-A942-DE53-2556D808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86CC7-86F1-42F1-5ABC-BFCBB0A7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15F170-076C-3A40-90FA-E4CE441A0E77}"/>
              </a:ext>
            </a:extLst>
          </p:cNvPr>
          <p:cNvSpPr txBox="1"/>
          <p:nvPr/>
        </p:nvSpPr>
        <p:spPr>
          <a:xfrm>
            <a:off x="838200" y="1690688"/>
            <a:ext cx="9855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Text Length Distribution</a:t>
            </a:r>
          </a:p>
          <a:p>
            <a:endParaRPr lang="en-US" b="1" dirty="0"/>
          </a:p>
          <a:p>
            <a:r>
              <a:rPr lang="en-US" dirty="0"/>
              <a:t>Kernel density plot comparing word count distributions between human and AI texts</a:t>
            </a:r>
          </a:p>
          <a:p>
            <a:r>
              <a:rPr lang="en-US" dirty="0"/>
              <a:t> 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62EA1F-C4C4-D7AC-1DF9-49D5AB6DE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9626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25EE86-CCA7-FA42-8955-F97712249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390" y="2792893"/>
            <a:ext cx="6442710" cy="35075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5609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CC03E-922D-D48D-6F2D-FCD4BA34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BDCA6-95B6-A964-E90C-0B43567E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Models Evaluated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3EB38D-0D41-7AED-DFEB-8D051A4AF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9626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713966C-E5BA-474F-1C54-F310AD02D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063" y="1418685"/>
            <a:ext cx="7838749" cy="13695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Four Classifiers Compared</a:t>
            </a:r>
          </a:p>
          <a:p>
            <a:pPr lvl="0"/>
            <a:r>
              <a:rPr lang="en-US" b="1" dirty="0"/>
              <a:t>Training split:</a:t>
            </a:r>
            <a:r>
              <a:rPr lang="en-US" dirty="0"/>
              <a:t> 70% train (25,752) | 15% validation (5,373) | 15% test (5,400)</a:t>
            </a:r>
            <a:br>
              <a:rPr lang="en-US" sz="1600" dirty="0"/>
            </a:b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09E851-CD1E-61D9-4CD3-FFE2D1C0C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866657"/>
              </p:ext>
            </p:extLst>
          </p:nvPr>
        </p:nvGraphicFramePr>
        <p:xfrm>
          <a:off x="2029151" y="2534442"/>
          <a:ext cx="7838748" cy="2933700"/>
        </p:xfrm>
        <a:graphic>
          <a:graphicData uri="http://schemas.openxmlformats.org/drawingml/2006/table">
            <a:tbl>
              <a:tblPr/>
              <a:tblGrid>
                <a:gridCol w="2612916">
                  <a:extLst>
                    <a:ext uri="{9D8B030D-6E8A-4147-A177-3AD203B41FA5}">
                      <a16:colId xmlns:a16="http://schemas.microsoft.com/office/drawing/2014/main" val="1140460595"/>
                    </a:ext>
                  </a:extLst>
                </a:gridCol>
                <a:gridCol w="2612916">
                  <a:extLst>
                    <a:ext uri="{9D8B030D-6E8A-4147-A177-3AD203B41FA5}">
                      <a16:colId xmlns:a16="http://schemas.microsoft.com/office/drawing/2014/main" val="2137869859"/>
                    </a:ext>
                  </a:extLst>
                </a:gridCol>
                <a:gridCol w="2612916">
                  <a:extLst>
                    <a:ext uri="{9D8B030D-6E8A-4147-A177-3AD203B41FA5}">
                      <a16:colId xmlns:a16="http://schemas.microsoft.com/office/drawing/2014/main" val="965139421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Model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Type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Key Parameters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8913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Logistic Regression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Linear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maxIter=50, regParam=0.01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835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Linear SVM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Linear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maxIter=20, regParam=0.1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25297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Random Forest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Ensemble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numTrees=100, maxDepth=10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35113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Gradient Boosted Trees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Ensemble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 err="1">
                          <a:effectLst/>
                          <a:latin typeface="quote-cjk-patch"/>
                        </a:rPr>
                        <a:t>maxIter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=20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98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13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9C81D-3376-638B-BD8D-3662768F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BDAA-77C0-85B3-9422-B5AEC155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4375C-E087-E45A-060A-FE2F8300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9626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4E775A-D596-8EC2-9C3B-DEBD543BF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70063"/>
              </p:ext>
            </p:extLst>
          </p:nvPr>
        </p:nvGraphicFramePr>
        <p:xfrm>
          <a:off x="838200" y="3213894"/>
          <a:ext cx="10515600" cy="1574800"/>
        </p:xfrm>
        <a:graphic>
          <a:graphicData uri="http://schemas.openxmlformats.org/drawingml/2006/table">
            <a:tbl>
              <a:tblPr/>
              <a:tblGrid>
                <a:gridCol w="2399190">
                  <a:extLst>
                    <a:ext uri="{9D8B030D-6E8A-4147-A177-3AD203B41FA5}">
                      <a16:colId xmlns:a16="http://schemas.microsoft.com/office/drawing/2014/main" val="2612052846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3140309408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2137510207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20903119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Model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Accuracy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F1-Score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AUC-ROC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74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Linear SVM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95.69%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0.9547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0.9651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371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Logistic Regression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95.57%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0.9521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0.9674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281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GBT (XGBoost)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94.39%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0.9336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0.9522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784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625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5BE0E-080E-CC4D-404B-751E5896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8FBF8-6377-32CA-0DE2-9B5E849B1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Confusion Matrix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439277-FBEB-D804-C130-A087F47FD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9626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A5C71A-5A65-0A47-960C-FAD8BFD73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35138"/>
              </p:ext>
            </p:extLst>
          </p:nvPr>
        </p:nvGraphicFramePr>
        <p:xfrm>
          <a:off x="2791838" y="2713702"/>
          <a:ext cx="5654073" cy="31759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5528">
                  <a:extLst>
                    <a:ext uri="{9D8B030D-6E8A-4147-A177-3AD203B41FA5}">
                      <a16:colId xmlns:a16="http://schemas.microsoft.com/office/drawing/2014/main" val="4222834367"/>
                    </a:ext>
                  </a:extLst>
                </a:gridCol>
                <a:gridCol w="1741576">
                  <a:extLst>
                    <a:ext uri="{9D8B030D-6E8A-4147-A177-3AD203B41FA5}">
                      <a16:colId xmlns:a16="http://schemas.microsoft.com/office/drawing/2014/main" val="1978578552"/>
                    </a:ext>
                  </a:extLst>
                </a:gridCol>
                <a:gridCol w="2176969">
                  <a:extLst>
                    <a:ext uri="{9D8B030D-6E8A-4147-A177-3AD203B41FA5}">
                      <a16:colId xmlns:a16="http://schemas.microsoft.com/office/drawing/2014/main" val="59865096"/>
                    </a:ext>
                  </a:extLst>
                </a:gridCol>
              </a:tblGrid>
              <a:tr h="1058641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2250"/>
                        </a:lnSpc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Label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2250"/>
                        </a:lnSpc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AI(pred)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2250"/>
                        </a:lnSpc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Human (pred)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6298635"/>
                  </a:ext>
                </a:extLst>
              </a:tr>
              <a:tr h="1058641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2250"/>
                        </a:lnSpc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AI(0)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2250"/>
                        </a:lnSpc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4950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2250"/>
                        </a:lnSpc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35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4440060"/>
                  </a:ext>
                </a:extLst>
              </a:tr>
              <a:tr h="1058641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2250"/>
                        </a:lnSpc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Human(1)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2250"/>
                        </a:lnSpc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268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2250"/>
                        </a:lnSpc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147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97638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29C8CDA-63A7-F20C-E30A-63FDC8628E83}"/>
              </a:ext>
            </a:extLst>
          </p:cNvPr>
          <p:cNvSpPr txBox="1"/>
          <p:nvPr/>
        </p:nvSpPr>
        <p:spPr>
          <a:xfrm>
            <a:off x="1907458" y="1773253"/>
            <a:ext cx="7167716" cy="374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model shows good performance with 35 false positives </a:t>
            </a:r>
            <a:endParaRPr lang="en-US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114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CEF84-A7DE-3C12-9B73-464FABE8C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9CFFE-0D8F-E04A-EAE4-F6C2EC8C8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ROC Curves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F41A79-E740-86EA-15E5-5216D954C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9626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C5E4C-A75E-1603-1C5C-1996ADAE9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445" y="1690688"/>
            <a:ext cx="5274310" cy="417766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5EF521-3548-A089-01E3-161D2944B07A}"/>
              </a:ext>
            </a:extLst>
          </p:cNvPr>
          <p:cNvSpPr txBox="1"/>
          <p:nvPr/>
        </p:nvSpPr>
        <p:spPr>
          <a:xfrm>
            <a:off x="723900" y="1865137"/>
            <a:ext cx="3416300" cy="1561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ROC curves show that Logistic Regression and GBT achieve excellent separation (AUC &gt; 0.95), significantly outperforming random chance.</a:t>
            </a:r>
            <a:endParaRPr lang="en-US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078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4B69B-CB2F-C006-3651-7283DBA4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C5DC-8C9A-C712-9EA0-46E8931F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Importance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31DB34-31A7-0903-96E0-66CD90F8D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9626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FDD22-9656-8DDD-4DD5-9C0775679516}"/>
              </a:ext>
            </a:extLst>
          </p:cNvPr>
          <p:cNvSpPr txBox="1"/>
          <p:nvPr/>
        </p:nvSpPr>
        <p:spPr>
          <a:xfrm>
            <a:off x="723900" y="1865137"/>
            <a:ext cx="34163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the GBT model, the two stylometric features showed the following importance scores:</a:t>
            </a:r>
          </a:p>
          <a:p>
            <a:pPr lvl="0"/>
            <a:r>
              <a:rPr lang="en-US" dirty="0"/>
              <a:t>F1 (Total Characters): Dominant importance</a:t>
            </a:r>
          </a:p>
          <a:p>
            <a:pPr lvl="0"/>
            <a:r>
              <a:rPr lang="en-US" dirty="0"/>
              <a:t>F24 (Unique Punctuation Ratio): Secondary importance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4C23C8-4F5E-C3A3-30CF-5F8143590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545" y="1731010"/>
            <a:ext cx="5274310" cy="3395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6444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ED0C2-29E9-B927-68C0-B61EE2492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7905-525F-71BF-0213-48F3BBD5A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Streaming Implementation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39A1A7-741C-81A4-7726-1BD1CED2F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9626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E6A027B-0101-F007-35CE-D1846D841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557295"/>
              </p:ext>
            </p:extLst>
          </p:nvPr>
        </p:nvGraphicFramePr>
        <p:xfrm>
          <a:off x="1922780" y="2858293"/>
          <a:ext cx="7195820" cy="1993100"/>
        </p:xfrm>
        <a:graphic>
          <a:graphicData uri="http://schemas.openxmlformats.org/drawingml/2006/table">
            <a:tbl>
              <a:tblPr/>
              <a:tblGrid>
                <a:gridCol w="3597910">
                  <a:extLst>
                    <a:ext uri="{9D8B030D-6E8A-4147-A177-3AD203B41FA5}">
                      <a16:colId xmlns:a16="http://schemas.microsoft.com/office/drawing/2014/main" val="899867770"/>
                    </a:ext>
                  </a:extLst>
                </a:gridCol>
                <a:gridCol w="3597910">
                  <a:extLst>
                    <a:ext uri="{9D8B030D-6E8A-4147-A177-3AD203B41FA5}">
                      <a16:colId xmlns:a16="http://schemas.microsoft.com/office/drawing/2014/main" val="4049665858"/>
                    </a:ext>
                  </a:extLst>
                </a:gridCol>
              </a:tblGrid>
              <a:tr h="49827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Component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Technology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392793"/>
                  </a:ext>
                </a:extLst>
              </a:tr>
              <a:tr h="49827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Stream engine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Spark Structured Streaming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775431"/>
                  </a:ext>
                </a:extLst>
              </a:tr>
              <a:tr h="49827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Checkpointing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Fault-tolerant exactly-once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222787"/>
                  </a:ext>
                </a:extLst>
              </a:tr>
              <a:tr h="49827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Output format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Parquet with partitioning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333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794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02C72-0DFC-20D5-C412-F7B4FA63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C695-3FED-744F-91A0-301C6409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DA29F6-F6AC-F26C-2B8A-C00C2A6B4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9626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46356-908C-D313-B163-0427CFBAE3A6}"/>
              </a:ext>
            </a:extLst>
          </p:cNvPr>
          <p:cNvSpPr txBox="1"/>
          <p:nvPr/>
        </p:nvSpPr>
        <p:spPr>
          <a:xfrm>
            <a:off x="1397000" y="2367973"/>
            <a:ext cx="97790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Successfully implemented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distributed big data pipeline for Arabic AI-text detection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Linear SVM achieved 95.69% accuracy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with F1-score of 0.9547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Hybrid features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(TF-IDF + character count + punctuation ratio) are effective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Streaming capability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enables real-time inference (50 records / 5 batches)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Scalability optimal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at 4 partitions on CentOS (0.14 </a:t>
            </a:r>
            <a:r>
              <a:rPr lang="en-US" b="0" i="0">
                <a:solidFill>
                  <a:srgbClr val="0F1115"/>
                </a:solidFill>
                <a:effectLst/>
                <a:latin typeface="quote-cjk-patch"/>
              </a:rPr>
              <a:t>sec)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958121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506</Words>
  <Application>Microsoft Office PowerPoint</Application>
  <PresentationFormat>Widescreen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quote-cjk-patch</vt:lpstr>
      <vt:lpstr>Segoe UI</vt:lpstr>
      <vt:lpstr>Office Theme</vt:lpstr>
      <vt:lpstr>Detecting AI-Generated Arabic Abstracts</vt:lpstr>
      <vt:lpstr>Introduction</vt:lpstr>
      <vt:lpstr> Project Objectives</vt:lpstr>
      <vt:lpstr>Dataset Overview</vt:lpstr>
      <vt:lpstr>Preprocessing Pipeline</vt:lpstr>
      <vt:lpstr>Feature Engineering</vt:lpstr>
      <vt:lpstr>EDA </vt:lpstr>
      <vt:lpstr>EDA </vt:lpstr>
      <vt:lpstr>Models Evaluated </vt:lpstr>
      <vt:lpstr>Results </vt:lpstr>
      <vt:lpstr>Confusion Matrix </vt:lpstr>
      <vt:lpstr>ROC Curves</vt:lpstr>
      <vt:lpstr>Feature Importance</vt:lpstr>
      <vt:lpstr>Streaming Implementation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Maryam Gaber</dc:creator>
  <cp:lastModifiedBy>Ahmad Alofi</cp:lastModifiedBy>
  <cp:revision>3</cp:revision>
  <dcterms:created xsi:type="dcterms:W3CDTF">2026-05-17T15:13:43Z</dcterms:created>
  <dcterms:modified xsi:type="dcterms:W3CDTF">2026-05-20T14:33:08Z</dcterms:modified>
</cp:coreProperties>
</file>